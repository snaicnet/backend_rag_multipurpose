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Host Grotesk Medium"/>
      <p:regular r:id="rId16"/>
    </p:embeddedFont>
    <p:embeddedFont>
      <p:font typeface="Host Grotesk Medium"/>
      <p:regular r:id="rId17"/>
    </p:embeddedFont>
    <p:embeddedFont>
      <p:font typeface="Host Grotesk Medium"/>
      <p:regular r:id="rId18"/>
    </p:embeddedFont>
    <p:embeddedFont>
      <p:font typeface="Host Grotesk Medium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slideLayout" Target="../slideLayouts/slideLayout5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huangjunjie-cs.github.io/static/uploads/pdfs/2026AAAI_LiR3RAG_Poster.pdf?utm_source=chatgpt.com" TargetMode="External"/><Relationship Id="rId2" Type="http://schemas.openxmlformats.org/officeDocument/2006/relationships/hyperlink" Target="https://huangjunjie-cs.github.io/static/uploads/pdfs/2026AAAI_LiR3RAG_Poster.pdf?utm_source=chatgpt.com" TargetMode="External"/><Relationship Id="rId3" Type="http://schemas.openxmlformats.org/officeDocument/2006/relationships/hyperlink" Target="https://huangjunjie-cs.github.io/static/uploads/pdfs/2026AAAI_LiR3RAG_Poster.pdf?utm_source=chatgpt.com" TargetMode="External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9571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Backend RAG Multipurpose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53439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Production-Ready AI Chatbot Infrastructure with Multi-Provider Orchestration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711" y="764500"/>
            <a:ext cx="4187547" cy="52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Problem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732711" y="1535192"/>
            <a:ext cx="6520696" cy="1748671"/>
          </a:xfrm>
          <a:prstGeom prst="roundRect">
            <a:avLst>
              <a:gd name="adj" fmla="val 402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733" y="1710214"/>
            <a:ext cx="502444" cy="50244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845" y="1848326"/>
            <a:ext cx="226100" cy="226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7733" y="2336244"/>
            <a:ext cx="235184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Fragmented Integrations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07733" y="2672120"/>
            <a:ext cx="6170652" cy="436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AI providers require custom code and different API patterns. Switching providers means rewriting substantial application logic.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376993" y="1535192"/>
            <a:ext cx="6520696" cy="1748671"/>
          </a:xfrm>
          <a:prstGeom prst="roundRect">
            <a:avLst>
              <a:gd name="adj" fmla="val 402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015" y="1710214"/>
            <a:ext cx="502444" cy="502444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0128" y="1848326"/>
            <a:ext cx="226100" cy="2261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52015" y="2336244"/>
            <a:ext cx="2756059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Security &amp; Compliance Gaps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7552015" y="2672120"/>
            <a:ext cx="6170652" cy="436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implementations lack enterprise-grade authentication, rate limiting, and audit trails. This creates compliance risks and vulnerability to data exfiltration.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732711" y="3407450"/>
            <a:ext cx="6520696" cy="1967032"/>
          </a:xfrm>
          <a:prstGeom prst="roundRect">
            <a:avLst>
              <a:gd name="adj" fmla="val 357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733" y="3582472"/>
            <a:ext cx="502444" cy="502444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5845" y="3720584"/>
            <a:ext cx="226100" cy="2261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07733" y="4208502"/>
            <a:ext cx="213717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Document Complexity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907733" y="4544378"/>
            <a:ext cx="6170652" cy="436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Ingesting DOCX, CSV, XLSX, Markdown, and PDFs requires multiple parsers and normalization logic. 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7376993" y="3407450"/>
            <a:ext cx="6520696" cy="1967032"/>
          </a:xfrm>
          <a:prstGeom prst="roundRect">
            <a:avLst>
              <a:gd name="adj" fmla="val 357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2015" y="3582472"/>
            <a:ext cx="502444" cy="502444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90128" y="3720584"/>
            <a:ext cx="226100" cy="2261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552015" y="4208502"/>
            <a:ext cx="2370772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Retrieval Accuracy Crisis</a:t>
            </a:r>
            <a:endParaRPr lang="en-US" sz="1600" dirty="0"/>
          </a:p>
        </p:txBody>
      </p:sp>
      <p:sp>
        <p:nvSpPr>
          <p:cNvPr id="22" name="Text 12"/>
          <p:cNvSpPr/>
          <p:nvPr/>
        </p:nvSpPr>
        <p:spPr>
          <a:xfrm>
            <a:off x="7552015" y="4544378"/>
            <a:ext cx="6170652" cy="655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retrieval from vocabulary mismatch and single-pass limitations leads to hallucinated or irrelevant responses. Production chatbots fail without evaluation-driven development.</a:t>
            </a:r>
            <a:endParaRPr lang="en-US" sz="1300" dirty="0"/>
          </a:p>
        </p:txBody>
      </p:sp>
      <p:sp>
        <p:nvSpPr>
          <p:cNvPr id="23" name="Shape 13"/>
          <p:cNvSpPr/>
          <p:nvPr/>
        </p:nvSpPr>
        <p:spPr>
          <a:xfrm>
            <a:off x="732711" y="5498068"/>
            <a:ext cx="6520696" cy="1967032"/>
          </a:xfrm>
          <a:prstGeom prst="roundRect">
            <a:avLst>
              <a:gd name="adj" fmla="val 357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733" y="5673090"/>
            <a:ext cx="502444" cy="502444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5845" y="5811203"/>
            <a:ext cx="226100" cy="2261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907733" y="6299121"/>
            <a:ext cx="2783086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 Observability &amp; Feedback</a:t>
            </a:r>
            <a:endParaRPr lang="en-US" sz="1600" dirty="0"/>
          </a:p>
        </p:txBody>
      </p:sp>
      <p:sp>
        <p:nvSpPr>
          <p:cNvPr id="27" name="Text 15"/>
          <p:cNvSpPr/>
          <p:nvPr/>
        </p:nvSpPr>
        <p:spPr>
          <a:xfrm>
            <a:off x="907733" y="6634996"/>
            <a:ext cx="6170652" cy="436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monitoring, teams cannot measure performance or identify failure patterns. There is no visibility into why queries fail or how to improve.</a:t>
            </a:r>
            <a:endParaRPr lang="en-US" sz="1300" dirty="0"/>
          </a:p>
        </p:txBody>
      </p:sp>
      <p:sp>
        <p:nvSpPr>
          <p:cNvPr id="28" name="Shape 16"/>
          <p:cNvSpPr/>
          <p:nvPr/>
        </p:nvSpPr>
        <p:spPr>
          <a:xfrm>
            <a:off x="7376993" y="5498068"/>
            <a:ext cx="6520696" cy="1967032"/>
          </a:xfrm>
          <a:prstGeom prst="roundRect">
            <a:avLst>
              <a:gd name="adj" fmla="val 357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52015" y="5673090"/>
            <a:ext cx="502444" cy="502444"/>
          </a:xfrm>
          <a:prstGeom prst="rect">
            <a:avLst/>
          </a:prstGeom>
        </p:spPr>
      </p:pic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90128" y="5811203"/>
            <a:ext cx="226100" cy="22610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552015" y="6299121"/>
            <a:ext cx="3434001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Vendor Lock-In &amp; Privacy Concerns</a:t>
            </a:r>
            <a:endParaRPr lang="en-US" sz="1600" dirty="0"/>
          </a:p>
        </p:txBody>
      </p:sp>
      <p:sp>
        <p:nvSpPr>
          <p:cNvPr id="32" name="Text 18"/>
          <p:cNvSpPr/>
          <p:nvPr/>
        </p:nvSpPr>
        <p:spPr>
          <a:xfrm>
            <a:off x="7552015" y="6634996"/>
            <a:ext cx="6170652" cy="655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Cloud-only LLM dependencies prevent on-premise deployment. Organizations handling PII or regulated data lack a privacy-first option with local models like Ollama or Llama.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1049"/>
            <a:ext cx="792289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Solution: Unified Chatbot Platform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628299"/>
            <a:ext cx="6448782" cy="1829753"/>
          </a:xfrm>
          <a:prstGeom prst="roundRect">
            <a:avLst>
              <a:gd name="adj" fmla="val 416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861" y="1817370"/>
            <a:ext cx="274760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Provider Abstraction Layer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82861" y="2187893"/>
            <a:ext cx="6070640" cy="1081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API for OpenAI, Gemini, Ollama, NVIDIA NIM, able to extend to more provider, avoid Vendor Lock-in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Runtime provider switching without code changes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optimization through provider selection per deployment profile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87709" y="1628299"/>
            <a:ext cx="6448901" cy="1829753"/>
          </a:xfrm>
          <a:prstGeom prst="roundRect">
            <a:avLst>
              <a:gd name="adj" fmla="val 416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76780" y="1817370"/>
            <a:ext cx="308610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Enterprise Security by Default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76780" y="2187893"/>
            <a:ext cx="6070759" cy="83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authentication, role-based access control, API key management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Rate limiting and quota enforcement via Redis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trails for compliance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3790" y="3603188"/>
            <a:ext cx="6448782" cy="1584841"/>
          </a:xfrm>
          <a:prstGeom prst="roundRect">
            <a:avLst>
              <a:gd name="adj" fmla="val 480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861" y="3792260"/>
            <a:ext cx="306812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Universal Document Ingestion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2861" y="4162782"/>
            <a:ext cx="6070640" cy="83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support for DOCX, PDF, CSV, XLSX, Markdown, JSON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format detection and standardized extraction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chunking with metadata preservation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87709" y="3603188"/>
            <a:ext cx="6448901" cy="1584841"/>
          </a:xfrm>
          <a:prstGeom prst="roundRect">
            <a:avLst>
              <a:gd name="adj" fmla="val 480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6780" y="3792260"/>
            <a:ext cx="384798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Advanced Retrieval with Adjudication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76780" y="4162782"/>
            <a:ext cx="6070759" cy="83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Multi-query decomposition for improved recall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Cross-encoder reranking for relevance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Binary adjudication gate prevents hallucination propagation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3790" y="5333167"/>
            <a:ext cx="6448782" cy="2125385"/>
          </a:xfrm>
          <a:prstGeom prst="roundRect">
            <a:avLst>
              <a:gd name="adj" fmla="val 358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2861" y="552223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Chat Guardrails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82861" y="5892760"/>
            <a:ext cx="6070640" cy="137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Multi-layered protection against prompt injection, data dumping attempts, and abusive inputs.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Blocked phrase filtering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Repeated prompt detection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Input/output size caps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87709" y="5333167"/>
            <a:ext cx="6448901" cy="2125385"/>
          </a:xfrm>
          <a:prstGeom prst="roundRect">
            <a:avLst>
              <a:gd name="adj" fmla="val 358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6780" y="552223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Privacy-First Option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76780" y="5892760"/>
            <a:ext cx="6070759" cy="83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with local LLM service (Ollama, Llama, Mistral) 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Utilize local network for the service call</a:t>
            </a:r>
            <a:endParaRPr lang="en-US" sz="140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Self-host on premise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9488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Use Cases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1789628"/>
            <a:ext cx="6272451" cy="1829038"/>
          </a:xfrm>
          <a:prstGeom prst="roundRect">
            <a:avLst>
              <a:gd name="adj" fmla="val 5999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30" y="1789628"/>
            <a:ext cx="91440" cy="18290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9303" y="201656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API-First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89303" y="2519124"/>
            <a:ext cx="5750004" cy="87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Headless, language-agnostic interface enabling integration across heterogeneous client applications without coupling to specific UI frameworks.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93790" y="3802380"/>
            <a:ext cx="6272451" cy="1538168"/>
          </a:xfrm>
          <a:prstGeom prst="roundRect">
            <a:avLst>
              <a:gd name="adj" fmla="val 7134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30" y="3802380"/>
            <a:ext cx="91440" cy="1538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89303" y="402931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Vendor Agnostic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089303" y="4531876"/>
            <a:ext cx="5750004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Abstracts LLM provider differences, allowing runtime selection and switching without architectural changes or data migration.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93790" y="5524262"/>
            <a:ext cx="6272451" cy="1829038"/>
          </a:xfrm>
          <a:prstGeom prst="roundRect">
            <a:avLst>
              <a:gd name="adj" fmla="val 5999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5524262"/>
            <a:ext cx="91440" cy="18290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89303" y="575119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Deterministic Bridge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1089303" y="6253758"/>
            <a:ext cx="5750004" cy="87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Enforces strict grounding constraints by mapping outputs to source documents with verifiable citations and confidence metrics.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571780" y="1789628"/>
            <a:ext cx="3044309" cy="2594610"/>
          </a:xfrm>
          <a:prstGeom prst="roundRect">
            <a:avLst>
              <a:gd name="adj" fmla="val 330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473" y="2001322"/>
            <a:ext cx="612338" cy="612338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1827" y="2169676"/>
            <a:ext cx="275511" cy="27551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83473" y="279737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Knowledge Base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7783473" y="3299936"/>
            <a:ext cx="2620923" cy="872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documentation and domain-specific manuals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10799802" y="1789628"/>
            <a:ext cx="3044428" cy="2594610"/>
          </a:xfrm>
          <a:prstGeom prst="roundRect">
            <a:avLst>
              <a:gd name="adj" fmla="val 330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1495" y="2001322"/>
            <a:ext cx="612338" cy="612338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79850" y="2169676"/>
            <a:ext cx="275511" cy="275511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1011495" y="279737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Analysis</a:t>
            </a:r>
            <a:endParaRPr lang="en-US" sz="2000" dirty="0"/>
          </a:p>
        </p:txBody>
      </p:sp>
      <p:sp>
        <p:nvSpPr>
          <p:cNvPr id="24" name="Text 15"/>
          <p:cNvSpPr/>
          <p:nvPr/>
        </p:nvSpPr>
        <p:spPr>
          <a:xfrm>
            <a:off x="11011495" y="3299936"/>
            <a:ext cx="2621042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datasets and analytical queries</a:t>
            </a:r>
            <a:endParaRPr lang="en-US" sz="1600" dirty="0"/>
          </a:p>
        </p:txBody>
      </p:sp>
      <p:sp>
        <p:nvSpPr>
          <p:cNvPr id="25" name="Shape 16"/>
          <p:cNvSpPr/>
          <p:nvPr/>
        </p:nvSpPr>
        <p:spPr>
          <a:xfrm>
            <a:off x="7571780" y="4567952"/>
            <a:ext cx="3044309" cy="2303740"/>
          </a:xfrm>
          <a:prstGeom prst="roundRect">
            <a:avLst>
              <a:gd name="adj" fmla="val 372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3473" y="4779645"/>
            <a:ext cx="612338" cy="612338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51827" y="4947999"/>
            <a:ext cx="275511" cy="275511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783473" y="557569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Support</a:t>
            </a:r>
            <a:endParaRPr lang="en-US" sz="2000" dirty="0"/>
          </a:p>
        </p:txBody>
      </p:sp>
      <p:sp>
        <p:nvSpPr>
          <p:cNvPr id="29" name="Text 18"/>
          <p:cNvSpPr/>
          <p:nvPr/>
        </p:nvSpPr>
        <p:spPr>
          <a:xfrm>
            <a:off x="7783473" y="6078260"/>
            <a:ext cx="2620923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FAQ systems and customer inquiry resolution</a:t>
            </a:r>
            <a:endParaRPr lang="en-US" sz="1600" dirty="0"/>
          </a:p>
        </p:txBody>
      </p:sp>
      <p:sp>
        <p:nvSpPr>
          <p:cNvPr id="30" name="Shape 19"/>
          <p:cNvSpPr/>
          <p:nvPr/>
        </p:nvSpPr>
        <p:spPr>
          <a:xfrm>
            <a:off x="10799802" y="4567952"/>
            <a:ext cx="3044428" cy="2303740"/>
          </a:xfrm>
          <a:prstGeom prst="roundRect">
            <a:avLst>
              <a:gd name="adj" fmla="val 372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1495" y="4779645"/>
            <a:ext cx="612338" cy="612338"/>
          </a:xfrm>
          <a:prstGeom prst="rect">
            <a:avLst/>
          </a:prstGeom>
        </p:spPr>
      </p:pic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179850" y="4947999"/>
            <a:ext cx="275511" cy="275511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11011495" y="557569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Internal Tools</a:t>
            </a:r>
            <a:endParaRPr lang="en-US" sz="2000" dirty="0"/>
          </a:p>
        </p:txBody>
      </p:sp>
      <p:sp>
        <p:nvSpPr>
          <p:cNvPr id="34" name="Text 21"/>
          <p:cNvSpPr/>
          <p:nvPr/>
        </p:nvSpPr>
        <p:spPr>
          <a:xfrm>
            <a:off x="11011495" y="6078260"/>
            <a:ext cx="2621042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documentation and organizational knowledge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6286"/>
            <a:ext cx="579512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Highlevel System Architecture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183" y="1979652"/>
            <a:ext cx="6237684" cy="46551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778228"/>
            <a:ext cx="8332470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2630" y="1637943"/>
            <a:ext cx="255151" cy="2551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01620" y="163270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Application Layer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0101620" y="2025968"/>
            <a:ext cx="3742492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serves as the core application framework, handling HTTP request routing and async request processing for the RAG pipeline.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2630" y="2956084"/>
            <a:ext cx="255151" cy="25515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101620" y="295084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&amp; Storage Layer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10101620" y="3344108"/>
            <a:ext cx="3742492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stores configuration, audit logs, and metadata. Qdrant manages embedding vectors and enables similarity search for retrieval. Redis handles rate limiting, caching, and optional session state.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2630" y="4720709"/>
            <a:ext cx="255151" cy="25515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101620" y="471547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Provider Adapters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10101620" y="5108734"/>
            <a:ext cx="3742492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Modular adapters abstract OpenAI, Gemini, and Ollama, enabling runtime provider selection and switching without architectural changes.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12630" y="6038850"/>
            <a:ext cx="255151" cy="25515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101620" y="6033611"/>
            <a:ext cx="247721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Security &amp; Authentication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10101620" y="6426875"/>
            <a:ext cx="3742492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bearer tokens and hashed API keys enforce access control. Rate limiting via Redis prevents abuse and ensures fair resource allocation across users.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8186"/>
            <a:ext cx="4484727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Complete RAG Pipeline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514951"/>
            <a:ext cx="13042821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two-phase architecture showing how data is prepared for retrieval and how user queries are answered in real time using the same vector space.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93790" y="2009180"/>
            <a:ext cx="454806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1: Knowledge Base Preparation (Offline)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3790" y="2418398"/>
            <a:ext cx="3093125" cy="1195030"/>
          </a:xfrm>
          <a:prstGeom prst="roundRect">
            <a:avLst>
              <a:gd name="adj" fmla="val 597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1431" y="259603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1. Authentication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1431" y="2989302"/>
            <a:ext cx="2737842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token generation via API key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14430" y="2418398"/>
            <a:ext cx="3093244" cy="1195030"/>
          </a:xfrm>
          <a:prstGeom prst="roundRect">
            <a:avLst>
              <a:gd name="adj" fmla="val 597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2072" y="259603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2. Data Ingestion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192072" y="2989302"/>
            <a:ext cx="2737961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documents (PDFs, DOCX, CSV, XLSX, Markdown)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3790" y="3740944"/>
            <a:ext cx="3093125" cy="1195030"/>
          </a:xfrm>
          <a:prstGeom prst="roundRect">
            <a:avLst>
              <a:gd name="adj" fmla="val 597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1431" y="391858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3. Text Parsing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71431" y="4311848"/>
            <a:ext cx="2737842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 raw text from various formats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14430" y="3740944"/>
            <a:ext cx="3093244" cy="1195030"/>
          </a:xfrm>
          <a:prstGeom prst="roundRect">
            <a:avLst>
              <a:gd name="adj" fmla="val 597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92072" y="391858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4. Normalization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192072" y="4311848"/>
            <a:ext cx="2737961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 text and remove noise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3790" y="5063490"/>
            <a:ext cx="3093125" cy="1195030"/>
          </a:xfrm>
          <a:prstGeom prst="roundRect">
            <a:avLst>
              <a:gd name="adj" fmla="val 597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431" y="524113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5. Chunking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71431" y="5634395"/>
            <a:ext cx="2737842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 into 250-500 token chunks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14430" y="5063490"/>
            <a:ext cx="3093244" cy="1195030"/>
          </a:xfrm>
          <a:prstGeom prst="roundRect">
            <a:avLst>
              <a:gd name="adj" fmla="val 597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2072" y="5241131"/>
            <a:ext cx="248983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6. Embedding Generation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192072" y="5634395"/>
            <a:ext cx="2737961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chunks to vectors (OpenAI, HuggingFace)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3790" y="6386036"/>
            <a:ext cx="6313884" cy="971788"/>
          </a:xfrm>
          <a:prstGeom prst="roundRect">
            <a:avLst>
              <a:gd name="adj" fmla="val 735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1431" y="656367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7. Storage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71431" y="6956941"/>
            <a:ext cx="5958602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Documents → PostgreSQL, Vectors → Qdrant, Cache → Redis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30346" y="2009180"/>
            <a:ext cx="504884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Phase 2: Query Processing &amp; Response (Real-Time)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530346" y="2418398"/>
            <a:ext cx="3093125" cy="1002268"/>
          </a:xfrm>
          <a:prstGeom prst="roundRect">
            <a:avLst>
              <a:gd name="adj" fmla="val 7129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3227" y="261127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1. Authentication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723227" y="3004542"/>
            <a:ext cx="2707362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JWT token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750987" y="2418398"/>
            <a:ext cx="3093244" cy="1002268"/>
          </a:xfrm>
          <a:prstGeom prst="roundRect">
            <a:avLst>
              <a:gd name="adj" fmla="val 7129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43868" y="261127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2. User Query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0943868" y="3004542"/>
            <a:ext cx="2707481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Submit natural language question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530346" y="3548182"/>
            <a:ext cx="3093125" cy="1225510"/>
          </a:xfrm>
          <a:prstGeom prst="roundRect">
            <a:avLst>
              <a:gd name="adj" fmla="val 583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3227" y="374106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3. Query Embedding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723227" y="4134326"/>
            <a:ext cx="2707362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query to vector using same model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750987" y="3548182"/>
            <a:ext cx="3093244" cy="1225510"/>
          </a:xfrm>
          <a:prstGeom prst="roundRect">
            <a:avLst>
              <a:gd name="adj" fmla="val 583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43868" y="374106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4. Semantic Search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0943868" y="4134326"/>
            <a:ext cx="2707481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top-k similar chunks from Qdrant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30346" y="4901208"/>
            <a:ext cx="3093125" cy="1225510"/>
          </a:xfrm>
          <a:prstGeom prst="roundRect">
            <a:avLst>
              <a:gd name="adj" fmla="val 583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3227" y="509408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5. Augmentation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7723227" y="5487353"/>
            <a:ext cx="2707362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context with query into prompt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750987" y="4901208"/>
            <a:ext cx="3093244" cy="1225510"/>
          </a:xfrm>
          <a:prstGeom prst="roundRect">
            <a:avLst>
              <a:gd name="adj" fmla="val 583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43868" y="509408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6. Generation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0943868" y="5487353"/>
            <a:ext cx="2707481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 to LLM (GPT-4, Gemini, Ollama, Llama 3)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530346" y="6254234"/>
            <a:ext cx="6313884" cy="1002268"/>
          </a:xfrm>
          <a:prstGeom prst="roundRect">
            <a:avLst>
              <a:gd name="adj" fmla="val 7129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23227" y="644711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7. Response Display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7723227" y="6840379"/>
            <a:ext cx="5928122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 answer with citations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79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Provider Integrated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50388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7720" y="21503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OpenAI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57720" y="2640806"/>
            <a:ext cx="5415677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GPT-4 and GPT-3.5-turbo with text-embedding-3-large. Suitable for general-purpose retrieval and generation with strong instruction-following capabilities.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2150388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20814" y="21503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Gemini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420814" y="2640806"/>
            <a:ext cx="5415796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Pro and Ultra models with extended context windows and multimodal support. Cost-effective for long-document processing and cross-modal reasoning.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455081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57720" y="44550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Ollama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757720" y="4945499"/>
            <a:ext cx="5415677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models (Llama, Mistral) with local embedding generation. Enables on-premise deployment for sensitive data and compliance-constrained environments.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4455081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20814" y="44550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NVIDIA NIM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420814" y="4945499"/>
            <a:ext cx="541579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Nemotron Super 49B optimized for reranking and retrieval-augmented tasks. Enterprise-grade performance for high-throughput production systems.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6561296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Provider selection is configured via admin API endpoint. Per-request overrides allow dynamic provider switching. Vector collections are created dynamically per embedding dimension to maintain index efficiency.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999" y="629245"/>
            <a:ext cx="3491865" cy="43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Evaluation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05188" y="1307425"/>
            <a:ext cx="2797373" cy="460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69%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55946" y="1902500"/>
            <a:ext cx="2095857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Exact Match Improvement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916454" y="1307425"/>
            <a:ext cx="2797373" cy="460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90.4%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42115" y="1902500"/>
            <a:ext cx="1745933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Reference Recall @k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327719" y="1307425"/>
            <a:ext cx="2797493" cy="460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853499" y="1902500"/>
            <a:ext cx="1745933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Context Match Rate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1999" y="2303264"/>
            <a:ext cx="2793563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Accuracy Progression</a:t>
            </a:r>
            <a:endParaRPr lang="en-US" sz="2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999" y="2762964"/>
            <a:ext cx="5920659" cy="250260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1629" y="3995525"/>
            <a:ext cx="261731" cy="17539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0.22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251258" y="3646830"/>
            <a:ext cx="261731" cy="17539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0.35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180887" y="3539539"/>
            <a:ext cx="261731" cy="17539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0.39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110517" y="3083553"/>
            <a:ext cx="261731" cy="17539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0.56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040146" y="2734858"/>
            <a:ext cx="261731" cy="17539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0.69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969775" y="2761681"/>
            <a:ext cx="261731" cy="175397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0.68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751999" y="5191221"/>
            <a:ext cx="355567" cy="136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Source: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8031837" y="2303264"/>
            <a:ext cx="2793563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Improvements</a:t>
            </a:r>
            <a:endParaRPr lang="en-US" sz="2150" dirty="0"/>
          </a:p>
        </p:txBody>
      </p:sp>
      <p:sp>
        <p:nvSpPr>
          <p:cNvPr id="19" name="Shape 16"/>
          <p:cNvSpPr/>
          <p:nvPr/>
        </p:nvSpPr>
        <p:spPr>
          <a:xfrm>
            <a:off x="8031837" y="2749034"/>
            <a:ext cx="5854065" cy="725567"/>
          </a:xfrm>
          <a:prstGeom prst="roundRect">
            <a:avLst>
              <a:gd name="adj" fmla="val 10082"/>
            </a:avLst>
          </a:prstGeom>
          <a:solidFill>
            <a:srgbClr val="FAF9F5"/>
          </a:solidFill>
          <a:ln w="15240">
            <a:solidFill>
              <a:srgbClr val="BFD3D8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597" y="2749034"/>
            <a:ext cx="60960" cy="72556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32458" y="2903934"/>
            <a:ext cx="5498544" cy="169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 Recall Hit Rate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232458" y="3150513"/>
            <a:ext cx="5498544" cy="169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from 0.79 to 0.91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31837" y="3560564"/>
            <a:ext cx="5854065" cy="725567"/>
          </a:xfrm>
          <a:prstGeom prst="roundRect">
            <a:avLst>
              <a:gd name="adj" fmla="val 10082"/>
            </a:avLst>
          </a:prstGeom>
          <a:solidFill>
            <a:srgbClr val="FAF9F5"/>
          </a:solidFill>
          <a:ln w="15240">
            <a:solidFill>
              <a:srgbClr val="BFD3D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597" y="3560564"/>
            <a:ext cx="60960" cy="72556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32458" y="3715464"/>
            <a:ext cx="5498544" cy="169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 Similarity Score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232458" y="3962043"/>
            <a:ext cx="5498544" cy="169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from 0.42 → 0.59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031837" y="4372094"/>
            <a:ext cx="5854065" cy="725567"/>
          </a:xfrm>
          <a:prstGeom prst="roundRect">
            <a:avLst>
              <a:gd name="adj" fmla="val 10082"/>
            </a:avLst>
          </a:prstGeom>
          <a:solidFill>
            <a:srgbClr val="FAF9F5"/>
          </a:solidFill>
          <a:ln w="15240">
            <a:solidFill>
              <a:srgbClr val="BFD3D8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597" y="4372094"/>
            <a:ext cx="60960" cy="72556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32458" y="4526994"/>
            <a:ext cx="5498544" cy="169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8232458" y="4773573"/>
            <a:ext cx="5498544" cy="169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47% improvement 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51999" y="5553313"/>
            <a:ext cx="3283982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What Drove Improvement</a:t>
            </a:r>
            <a:endParaRPr lang="en-US" sz="21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999" y="6253401"/>
            <a:ext cx="4318159" cy="152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51999" y="6353651"/>
            <a:ext cx="1745933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Prompt Engineering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751999" y="6623328"/>
            <a:ext cx="4318159" cy="169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query formulation and context assembly</a:t>
            </a:r>
            <a:endParaRPr lang="en-US" sz="10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6121" y="6253401"/>
            <a:ext cx="4318159" cy="152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156121" y="6353651"/>
            <a:ext cx="1745933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Hybrid Retrieval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5156121" y="6623328"/>
            <a:ext cx="4318159" cy="169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Semantic + lexical search for better coverage</a:t>
            </a:r>
            <a:endParaRPr lang="en-US" sz="105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0243" y="6253401"/>
            <a:ext cx="4318159" cy="1524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9560243" y="6353651"/>
            <a:ext cx="1745933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Multi-Stage Filtering</a:t>
            </a:r>
            <a:endParaRPr lang="en-US" sz="1350" dirty="0"/>
          </a:p>
        </p:txBody>
      </p:sp>
      <p:sp>
        <p:nvSpPr>
          <p:cNvPr id="40" name="Text 31"/>
          <p:cNvSpPr/>
          <p:nvPr/>
        </p:nvSpPr>
        <p:spPr>
          <a:xfrm>
            <a:off x="9560243" y="6623328"/>
            <a:ext cx="4318159" cy="169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 decomposition, reranking, adjudication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751999" y="6979920"/>
            <a:ext cx="13126402" cy="606385"/>
          </a:xfrm>
          <a:prstGeom prst="roundRect">
            <a:avLst>
              <a:gd name="adj" fmla="val 9675"/>
            </a:avLst>
          </a:prstGeom>
          <a:solidFill>
            <a:srgbClr val="C6E4EB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659" y="7161728"/>
            <a:ext cx="174546" cy="13966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205865" y="7114699"/>
            <a:ext cx="12532876" cy="33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 Methodology: MultiHopRAG dataset, 100 samples, GenModel: nvidia/nemotron-3-super-120b-a12b, EmbedModel: nvidia/llama-nemotron-embed-1b-v2, RerankModel: llama-nemotron-rerank-1b-v2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858" y="676513"/>
            <a:ext cx="6998137" cy="682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Benchmarking Performance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4858" y="1780461"/>
            <a:ext cx="13100685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system demonstrates superior performance compared to leading public results on the MultiHopRAG dataset, particularly in Exact Match (EM) and F1/Accuracy scores. The binary adjudication pre-pass proved crucial in achieving significant gains.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4858" y="2660690"/>
            <a:ext cx="13100685" cy="4892278"/>
          </a:xfrm>
          <a:prstGeom prst="roundRect">
            <a:avLst>
              <a:gd name="adj" fmla="val 187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478" y="2668310"/>
            <a:ext cx="13085445" cy="9110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1314" y="2802136"/>
            <a:ext cx="217622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12118" y="2802136"/>
            <a:ext cx="1518166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74863" y="2802136"/>
            <a:ext cx="863918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 metric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83360" y="2802136"/>
            <a:ext cx="602218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30158" y="2802136"/>
            <a:ext cx="1125617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F1 / Accuracy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500354" y="2802136"/>
            <a:ext cx="4139089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2478" y="3579376"/>
            <a:ext cx="13085445" cy="12327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1314" y="3713202"/>
            <a:ext cx="2176224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nemotron-3-super-120b-a12b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12118" y="3713202"/>
            <a:ext cx="1518166" cy="96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MultiHopRAG train, 100-sample slice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574863" y="3713202"/>
            <a:ext cx="863918" cy="96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EM, Token F1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83360" y="3713202"/>
            <a:ext cx="602218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0.690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930158" y="3713202"/>
            <a:ext cx="1125617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0.701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500354" y="3713202"/>
            <a:ext cx="4139089" cy="96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internal run. Binary adjudication pre-pass gave the largest generation-side jump.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72478" y="4812149"/>
            <a:ext cx="13085445" cy="9110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91314" y="4945975"/>
            <a:ext cx="217622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LiR3AG, 8B-no-think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612118" y="4945975"/>
            <a:ext cx="1518166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MultiHop-RAG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74863" y="4945975"/>
            <a:ext cx="863918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EM, F1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83360" y="4945975"/>
            <a:ext cx="602218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0.658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930158" y="4945975"/>
            <a:ext cx="1125617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0.673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500354" y="4945975"/>
            <a:ext cx="4139089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Closest public result with same answer metrics. (</a:t>
            </a:r>
            <a:pPr algn="l" indent="0" marL="0">
              <a:lnSpc>
                <a:spcPts val="2500"/>
              </a:lnSpc>
              <a:buNone/>
            </a:pPr>
            <a:r>
              <a:rPr lang="en-US" sz="1700" u="sng" dirty="0">
                <a:solidFill>
                  <a:srgbClr val="3A6B7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Huang Junjie’s Homepage</a:t>
            </a:r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72478" y="5723215"/>
            <a:ext cx="13085445" cy="9110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91314" y="5857042"/>
            <a:ext cx="217622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LiR3AG, 32B-no-think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612118" y="5857042"/>
            <a:ext cx="1518166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MultiHop-RAG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574863" y="5857042"/>
            <a:ext cx="863918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EM, F1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883360" y="5857042"/>
            <a:ext cx="602218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0.658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930158" y="5857042"/>
            <a:ext cx="1125617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0.668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500354" y="5857042"/>
            <a:ext cx="4139089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Slightly below our best run on both EM and F1. (</a:t>
            </a:r>
            <a:pPr algn="l" indent="0" marL="0">
              <a:lnSpc>
                <a:spcPts val="2500"/>
              </a:lnSpc>
              <a:buNone/>
            </a:pPr>
            <a:r>
              <a:rPr lang="en-US" sz="1700" u="sng" dirty="0">
                <a:solidFill>
                  <a:srgbClr val="3A6B7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Huang Junjie’s Homepage</a:t>
            </a:r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72478" y="6634282"/>
            <a:ext cx="13085445" cy="9110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91314" y="6768108"/>
            <a:ext cx="217622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LiR3AG, 32B-think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612118" y="6768108"/>
            <a:ext cx="1518166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MultiHop-RAG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574863" y="6768108"/>
            <a:ext cx="863918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EM, F1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883360" y="6768108"/>
            <a:ext cx="602218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0.642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930158" y="6768108"/>
            <a:ext cx="1125617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0.654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500354" y="6768108"/>
            <a:ext cx="4139089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Also below our best run. (</a:t>
            </a:r>
            <a:pPr algn="l" indent="0" marL="0">
              <a:lnSpc>
                <a:spcPts val="2500"/>
              </a:lnSpc>
              <a:buNone/>
            </a:pPr>
            <a:r>
              <a:rPr lang="en-US" sz="1700" u="sng" dirty="0">
                <a:solidFill>
                  <a:srgbClr val="3A6B7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Huang Junjie’s Homepage</a:t>
            </a:r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2026-04-02T18:23:06Z</dcterms:created>
  <dcterms:modified xsi:type="dcterms:W3CDTF">2026-04-02T18:23:06Z</dcterms:modified>
</cp:coreProperties>
</file>